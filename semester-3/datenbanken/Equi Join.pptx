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E9BFE-7BF2-4FE4-9C6A-FBD316F1F3F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273E0-2F8B-429D-AE53-2B47559577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de-DE"/>
              <a:t>Equi J</a:t>
            </a:r>
            <a:r>
              <a:rPr lang="de-DE" err="1"/>
              <a:t>oin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(Theta Join mit einem Gleichheitsoperator)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3258"/>
            <a:ext cx="9144000" cy="2387600"/>
          </a:xfrm>
        </p:spPr>
        <p:txBody>
          <a:bodyPr/>
          <a:lstStyle/>
          <a:p>
            <a:r>
              <a:rPr lang="en-US"/>
              <a:t>Danke für eure Aufmerksamkeit!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Danke für eure Aufmerksamkeit!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296410" y="93980"/>
            <a:ext cx="450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Ende der Präsentation (esc zum Beenden)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520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Equi Join ⋈</a:t>
            </a:r>
            <a:r>
              <a:rPr lang="en-US" baseline="-25000">
                <a:ea typeface="+mj-lt"/>
                <a:cs typeface="+mj-lt"/>
              </a:rPr>
              <a:t>[L]=[R]</a:t>
            </a:r>
            <a:endParaRPr lang="en-US" baseline="-25000">
              <a:ea typeface="+mj-lt"/>
              <a:cs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1233538"/>
            <a:ext cx="6913215" cy="12915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3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3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353820"/>
            <a:ext cx="4230370" cy="160464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89940" y="3246120"/>
            <a:ext cx="4874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Kombiniert die Attribute von R</a:t>
            </a:r>
            <a:r>
              <a:rPr lang="en-US" baseline="-25000"/>
              <a:t>1 </a:t>
            </a:r>
            <a:r>
              <a:rPr lang="en-US"/>
              <a:t>und R</a:t>
            </a:r>
            <a:r>
              <a:rPr lang="en-US" baseline="-25000"/>
              <a:t>2 </a:t>
            </a:r>
            <a:r>
              <a:rPr lang="en-US"/>
              <a:t>gdw:</a:t>
            </a: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3731260"/>
            <a:ext cx="2769870" cy="56197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789940" y="4782820"/>
            <a:ext cx="45967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Zusammensetzung aus Basisoperationen:</a:t>
            </a:r>
            <a:endParaRPr lang="en-US" b="1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530" y="5357495"/>
            <a:ext cx="3162935" cy="611505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790223" y="702845"/>
          <a:ext cx="2103755" cy="254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903"/>
                <a:gridCol w="1051903"/>
              </a:tblGrid>
              <a:tr h="635794">
                <a:tc>
                  <a:txBody>
                    <a:bodyPr/>
                    <a:p>
                      <a:r>
                        <a:rPr lang="en-US" sz="2400"/>
                        <a:t>A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/>
                        <a:t>B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p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p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/>
                        <a:t>4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249975" y="702844"/>
          <a:ext cx="2103806" cy="190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903"/>
                <a:gridCol w="1051903"/>
              </a:tblGrid>
              <a:tr h="635635">
                <a:tc>
                  <a:txBody>
                    <a:bodyPr/>
                    <a:p>
                      <a:r>
                        <a:rPr lang="en-US" sz="2400"/>
                        <a:t>C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D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p>
                      <a:r>
                        <a:rPr lang="en-US" sz="2400"/>
                        <a:t>42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69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238490" y="4213225"/>
          <a:ext cx="2867660" cy="2460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915"/>
                <a:gridCol w="716915"/>
                <a:gridCol w="716915"/>
                <a:gridCol w="716915"/>
              </a:tblGrid>
              <a:tr h="492125"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A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B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/>
                        <a:t>C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D</a:t>
                      </a:r>
                      <a:endParaRPr lang="en-US" sz="2400"/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400"/>
                        <a:t>42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</a:tr>
              <a:tr h="492125"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42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435" y="3397250"/>
            <a:ext cx="3239770" cy="8159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5" y="201930"/>
            <a:ext cx="470535" cy="5010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045" y="201930"/>
            <a:ext cx="470535" cy="501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0541"/>
                <a:ext cx="10056223" cy="998785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solidFill>
                      <a:srgbClr val="000000"/>
                    </a:solidFill>
                    <a:ea typeface="Aptos"/>
                    <a:cs typeface="Aptos"/>
                  </a:rPr>
                  <a:t>⋈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Aptos"/>
                        <a:cs typeface="Aptos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[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Join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−</m:t>
                    </m:r>
                    <m:r>
                      <a:rPr lang="de-DE" b="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𝐵𝑒𝑑𝑖𝑛𝑔𝑢𝑛𝑔</m:t>
                    </m:r>
                    <m:r>
                      <a:rPr lang="de-DE" b="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] ∗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=  </m:t>
                    </m:r>
                  </m:oMath>
                </a14:m>
                <a:r>
                  <a:rPr lang="el-GR"/>
                  <a:t>σ</a:t>
                </a:r>
                <a:r>
                  <a:rPr lang="de-DE" b="0" baseline="-25000">
                    <a:solidFill>
                      <a:srgbClr val="000000"/>
                    </a:solidFill>
                    <a:ea typeface="Aptos"/>
                    <a:cs typeface="Apto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[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Join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−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Bedingung</m:t>
                    </m:r>
                    <m:r>
                      <m:rPr>
                        <m:nor/>
                      </m:rPr>
                      <a:rPr lang="de-DE" b="0" i="0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ptos"/>
                        <a:cs typeface="Aptos"/>
                      </a:rPr>
                      <m:t>](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de-DE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0541"/>
                <a:ext cx="10056223" cy="998785"/>
              </a:xfrm>
              <a:blipFill rotWithShape="1">
                <a:blip r:embed="rId1"/>
                <a:stretch>
                  <a:fillRect t="-2877" r="4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74258" y="3935630"/>
          <a:ext cx="2103806" cy="190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903"/>
                <a:gridCol w="1051903"/>
              </a:tblGrid>
              <a:tr h="635794">
                <a:tc>
                  <a:txBody>
                    <a:bodyPr/>
                    <a:lstStyle/>
                    <a:p>
                      <a:r>
                        <a:rPr lang="en-US" sz="2400"/>
                        <a:t>A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4715" y="3935629"/>
          <a:ext cx="2103806" cy="1907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903"/>
                <a:gridCol w="1051903"/>
              </a:tblGrid>
              <a:tr h="635794">
                <a:tc>
                  <a:txBody>
                    <a:bodyPr/>
                    <a:lstStyle/>
                    <a:p>
                      <a:r>
                        <a:rPr lang="en-US" sz="2400"/>
                        <a:t>C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D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6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10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73615" y="5969995"/>
            <a:ext cx="24406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R'=R1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⋈</a:t>
            </a:r>
            <a:r>
              <a:rPr lang="en-US" sz="2800" baseline="-25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B&lt;C 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R2</a:t>
            </a:r>
            <a:endParaRPr lang="en-US" sz="28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21100" y="3494953"/>
          <a:ext cx="3485064" cy="317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266"/>
                <a:gridCol w="871266"/>
                <a:gridCol w="871266"/>
                <a:gridCol w="871266"/>
              </a:tblGrid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A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B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D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6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2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10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3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4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5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6</a:t>
                      </a:r>
                      <a:endParaRPr lang="en-US" sz="2400"/>
                    </a:p>
                  </a:txBody>
                  <a:tcPr/>
                </a:tc>
              </a:tr>
              <a:tr h="6357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strike="sngStrike"/>
                        <a:t>3</a:t>
                      </a:r>
                      <a:endParaRPr lang="en-US" sz="2400" strike="sngStrike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strike="sngStrike"/>
                        <a:t>4</a:t>
                      </a:r>
                      <a:endParaRPr lang="en-US" sz="2400" strike="sngStrike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strike="sngStrike"/>
                        <a:t>3</a:t>
                      </a:r>
                      <a:endParaRPr lang="en-US" sz="2400" strike="sngStrike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strike="sngStrike"/>
                        <a:t>10</a:t>
                      </a:r>
                      <a:endParaRPr lang="en-US" sz="2400" strike="sngStrike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71550" y="3569924"/>
            <a:ext cx="590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/>
              <a:t>R1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92007" y="3569923"/>
            <a:ext cx="590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/>
              <a:t>R2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618393" y="3129249"/>
            <a:ext cx="590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/>
              <a:t>R'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93304" y="2562085"/>
            <a:ext cx="691321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000" dirty="0"/>
              <a:t>R1 ⋈</a:t>
            </a:r>
            <a:r>
              <a:rPr lang="en-US" sz="3000" baseline="-25000" dirty="0"/>
              <a:t>p </a:t>
            </a:r>
            <a:r>
              <a:rPr lang="en-US" sz="3000" dirty="0"/>
              <a:t>R2 = </a:t>
            </a:r>
            <a:r>
              <a:rPr lang="en-US" sz="3000" dirty="0" err="1">
                <a:ea typeface="+mn-lt"/>
                <a:cs typeface="+mn-lt"/>
              </a:rPr>
              <a:t>σ</a:t>
            </a:r>
            <a:r>
              <a:rPr lang="en-US" sz="3000" baseline="-25000" dirty="0" err="1"/>
              <a:t>p</a:t>
            </a:r>
            <a:r>
              <a:rPr lang="en-US" sz="3000" dirty="0"/>
              <a:t> (R1 x R2)</a:t>
            </a:r>
            <a:endParaRPr lang="en-US" sz="3000" dirty="0"/>
          </a:p>
          <a:p>
            <a:r>
              <a:rPr lang="en-US" sz="3000" dirty="0"/>
              <a:t>p: die Join-</a:t>
            </a:r>
            <a:r>
              <a:rPr lang="en-US" sz="3000" dirty="0" err="1"/>
              <a:t>Bedingung</a:t>
            </a:r>
            <a:r>
              <a:rPr lang="en-US" sz="3000" dirty="0"/>
              <a:t> (</a:t>
            </a:r>
            <a:r>
              <a:rPr lang="en-US" sz="3000" dirty="0" err="1"/>
              <a:t>ein</a:t>
            </a:r>
            <a:r>
              <a:rPr lang="en-US" sz="3000" dirty="0"/>
              <a:t> </a:t>
            </a:r>
            <a:r>
              <a:rPr lang="en-US" sz="3000" dirty="0" err="1"/>
              <a:t>Prädikat</a:t>
            </a:r>
            <a:r>
              <a:rPr lang="en-US" sz="3000" dirty="0"/>
              <a:t>)</a:t>
            </a:r>
            <a:endParaRPr lang="en-US" sz="30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WPS Presentation</Application>
  <PresentationFormat>Widescreen</PresentationFormat>
  <Paragraphs>148</Paragraphs>
  <Slides>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SimSun</vt:lpstr>
      <vt:lpstr>Wingdings</vt:lpstr>
      <vt:lpstr>Aptos</vt:lpstr>
      <vt:lpstr>C059</vt:lpstr>
      <vt:lpstr>DejaVu Math TeX Gyre</vt:lpstr>
      <vt:lpstr>Cambria Math</vt:lpstr>
      <vt:lpstr>Aptos Display</vt:lpstr>
      <vt:lpstr>Microsoft YaHei</vt:lpstr>
      <vt:lpstr>Droid Sans Fallback</vt:lpstr>
      <vt:lpstr>Arial Unicode MS</vt:lpstr>
      <vt:lpstr>Calibri</vt:lpstr>
      <vt:lpstr>Trebuchet MS</vt:lpstr>
      <vt:lpstr>Aptos</vt:lpstr>
      <vt:lpstr>OpenSymbol</vt:lpstr>
      <vt:lpstr>Office Theme</vt:lpstr>
      <vt:lpstr>1_Office Theme</vt:lpstr>
      <vt:lpstr>Theta Join</vt:lpstr>
      <vt:lpstr>Equi Join</vt:lpstr>
      <vt:lpstr>Danke für eure Aufmerksamkeit!</vt:lpstr>
      <vt:lpstr>Theta Join   ⋈p</vt:lpstr>
      <vt:lpstr>Theta Join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Wortmann Christian Yannis (inf23008)</dc:creator>
  <cp:lastModifiedBy>heofthetea</cp:lastModifiedBy>
  <cp:revision>233</cp:revision>
  <dcterms:created xsi:type="dcterms:W3CDTF">2025-04-30T10:37:10Z</dcterms:created>
  <dcterms:modified xsi:type="dcterms:W3CDTF">2025-04-30T10:37:10Z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1033-11.1.0.11719</vt:lpwstr>
  </property>
</Properties>
</file>